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Alice" panose="020B0600070205080204" charset="0"/>
      <p:regular r:id="rId15"/>
    </p:embeddedFont>
    <p:embeddedFont>
      <p:font typeface="Alice Bold" panose="020B0600070205080204" charset="0"/>
      <p:regular r:id="rId16"/>
    </p:embeddedFont>
    <p:embeddedFont>
      <p:font typeface="DM Sans" pitchFamily="2" charset="0"/>
      <p:regular r:id="rId17"/>
    </p:embeddedFont>
    <p:embeddedFont>
      <p:font typeface="DM Sans Bold" panose="020B0600070205080204" charset="0"/>
      <p:regular r:id="rId18"/>
    </p:embeddedFont>
    <p:embeddedFont>
      <p:font typeface="DM Serif Display" pitchFamily="2" charset="0"/>
      <p:regular r:id="rId19"/>
    </p:embeddedFont>
    <p:embeddedFont>
      <p:font typeface="Poppins" panose="00000500000000000000" pitchFamily="2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6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18" Type="http://schemas.openxmlformats.org/officeDocument/2006/relationships/image" Target="../media/image1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21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20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19.png"/><Relationship Id="rId5" Type="http://schemas.openxmlformats.org/officeDocument/2006/relationships/image" Target="../media/image7.png"/><Relationship Id="rId10" Type="http://schemas.openxmlformats.org/officeDocument/2006/relationships/image" Target="../media/image14.svg"/><Relationship Id="rId4" Type="http://schemas.openxmlformats.org/officeDocument/2006/relationships/image" Target="../media/image6.sv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9.png"/><Relationship Id="rId18" Type="http://schemas.openxmlformats.org/officeDocument/2006/relationships/image" Target="../media/image27.svg"/><Relationship Id="rId26" Type="http://schemas.openxmlformats.org/officeDocument/2006/relationships/image" Target="../media/image20.svg"/><Relationship Id="rId3" Type="http://schemas.openxmlformats.org/officeDocument/2006/relationships/image" Target="../media/image3.png"/><Relationship Id="rId21" Type="http://schemas.openxmlformats.org/officeDocument/2006/relationships/image" Target="../media/image28.png"/><Relationship Id="rId7" Type="http://schemas.openxmlformats.org/officeDocument/2006/relationships/image" Target="../media/image5.png"/><Relationship Id="rId12" Type="http://schemas.openxmlformats.org/officeDocument/2006/relationships/image" Target="../media/image25.svg"/><Relationship Id="rId17" Type="http://schemas.openxmlformats.org/officeDocument/2006/relationships/image" Target="../media/image26.png"/><Relationship Id="rId25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2.svg"/><Relationship Id="rId20" Type="http://schemas.openxmlformats.org/officeDocument/2006/relationships/image" Target="../media/image14.sv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11" Type="http://schemas.openxmlformats.org/officeDocument/2006/relationships/image" Target="../media/image24.png"/><Relationship Id="rId24" Type="http://schemas.openxmlformats.org/officeDocument/2006/relationships/image" Target="../media/image16.svg"/><Relationship Id="rId5" Type="http://schemas.openxmlformats.org/officeDocument/2006/relationships/image" Target="../media/image22.png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image" Target="../media/image18.svg"/><Relationship Id="rId10" Type="http://schemas.openxmlformats.org/officeDocument/2006/relationships/image" Target="../media/image8.svg"/><Relationship Id="rId19" Type="http://schemas.openxmlformats.org/officeDocument/2006/relationships/image" Target="../media/image13.png"/><Relationship Id="rId4" Type="http://schemas.openxmlformats.org/officeDocument/2006/relationships/image" Target="../media/image4.svg"/><Relationship Id="rId9" Type="http://schemas.openxmlformats.org/officeDocument/2006/relationships/image" Target="../media/image7.png"/><Relationship Id="rId14" Type="http://schemas.openxmlformats.org/officeDocument/2006/relationships/image" Target="../media/image10.svg"/><Relationship Id="rId22" Type="http://schemas.openxmlformats.org/officeDocument/2006/relationships/image" Target="../media/image29.svg"/><Relationship Id="rId27" Type="http://schemas.openxmlformats.org/officeDocument/2006/relationships/image" Target="../media/image17.png"/><Relationship Id="rId30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9.png"/><Relationship Id="rId18" Type="http://schemas.openxmlformats.org/officeDocument/2006/relationships/image" Target="../media/image27.svg"/><Relationship Id="rId26" Type="http://schemas.openxmlformats.org/officeDocument/2006/relationships/image" Target="../media/image20.svg"/><Relationship Id="rId3" Type="http://schemas.openxmlformats.org/officeDocument/2006/relationships/image" Target="../media/image3.png"/><Relationship Id="rId21" Type="http://schemas.openxmlformats.org/officeDocument/2006/relationships/image" Target="../media/image28.png"/><Relationship Id="rId7" Type="http://schemas.openxmlformats.org/officeDocument/2006/relationships/image" Target="../media/image5.png"/><Relationship Id="rId12" Type="http://schemas.openxmlformats.org/officeDocument/2006/relationships/image" Target="../media/image25.svg"/><Relationship Id="rId17" Type="http://schemas.openxmlformats.org/officeDocument/2006/relationships/image" Target="../media/image26.png"/><Relationship Id="rId25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2.svg"/><Relationship Id="rId20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11" Type="http://schemas.openxmlformats.org/officeDocument/2006/relationships/image" Target="../media/image24.png"/><Relationship Id="rId24" Type="http://schemas.openxmlformats.org/officeDocument/2006/relationships/image" Target="../media/image16.svg"/><Relationship Id="rId5" Type="http://schemas.openxmlformats.org/officeDocument/2006/relationships/image" Target="../media/image22.png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image" Target="../media/image18.svg"/><Relationship Id="rId10" Type="http://schemas.openxmlformats.org/officeDocument/2006/relationships/image" Target="../media/image8.svg"/><Relationship Id="rId19" Type="http://schemas.openxmlformats.org/officeDocument/2006/relationships/image" Target="../media/image13.png"/><Relationship Id="rId4" Type="http://schemas.openxmlformats.org/officeDocument/2006/relationships/image" Target="../media/image4.svg"/><Relationship Id="rId9" Type="http://schemas.openxmlformats.org/officeDocument/2006/relationships/image" Target="../media/image7.png"/><Relationship Id="rId14" Type="http://schemas.openxmlformats.org/officeDocument/2006/relationships/image" Target="../media/image10.svg"/><Relationship Id="rId22" Type="http://schemas.openxmlformats.org/officeDocument/2006/relationships/image" Target="../media/image29.svg"/><Relationship Id="rId27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2.svg"/><Relationship Id="rId3" Type="http://schemas.openxmlformats.org/officeDocument/2006/relationships/image" Target="../media/image32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4.svg"/><Relationship Id="rId5" Type="http://schemas.openxmlformats.org/officeDocument/2006/relationships/image" Target="../media/image8.svg"/><Relationship Id="rId10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26.png"/><Relationship Id="rId18" Type="http://schemas.openxmlformats.org/officeDocument/2006/relationships/image" Target="../media/image18.sv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image" Target="../media/image12.sv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11" Type="http://schemas.openxmlformats.org/officeDocument/2006/relationships/image" Target="../media/image11.png"/><Relationship Id="rId5" Type="http://schemas.openxmlformats.org/officeDocument/2006/relationships/image" Target="../media/image22.png"/><Relationship Id="rId15" Type="http://schemas.openxmlformats.org/officeDocument/2006/relationships/image" Target="../media/image19.png"/><Relationship Id="rId10" Type="http://schemas.openxmlformats.org/officeDocument/2006/relationships/image" Target="../media/image8.svg"/><Relationship Id="rId19" Type="http://schemas.openxmlformats.org/officeDocument/2006/relationships/image" Target="../media/image33.png"/><Relationship Id="rId4" Type="http://schemas.openxmlformats.org/officeDocument/2006/relationships/image" Target="../media/image4.svg"/><Relationship Id="rId9" Type="http://schemas.openxmlformats.org/officeDocument/2006/relationships/image" Target="../media/image7.png"/><Relationship Id="rId14" Type="http://schemas.openxmlformats.org/officeDocument/2006/relationships/image" Target="../media/image2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9.png"/><Relationship Id="rId18" Type="http://schemas.openxmlformats.org/officeDocument/2006/relationships/image" Target="../media/image27.svg"/><Relationship Id="rId26" Type="http://schemas.openxmlformats.org/officeDocument/2006/relationships/image" Target="../media/image20.svg"/><Relationship Id="rId3" Type="http://schemas.openxmlformats.org/officeDocument/2006/relationships/image" Target="../media/image3.png"/><Relationship Id="rId21" Type="http://schemas.openxmlformats.org/officeDocument/2006/relationships/image" Target="../media/image28.png"/><Relationship Id="rId7" Type="http://schemas.openxmlformats.org/officeDocument/2006/relationships/image" Target="../media/image5.png"/><Relationship Id="rId12" Type="http://schemas.openxmlformats.org/officeDocument/2006/relationships/image" Target="../media/image25.svg"/><Relationship Id="rId17" Type="http://schemas.openxmlformats.org/officeDocument/2006/relationships/image" Target="../media/image26.png"/><Relationship Id="rId25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2.svg"/><Relationship Id="rId20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11" Type="http://schemas.openxmlformats.org/officeDocument/2006/relationships/image" Target="../media/image24.png"/><Relationship Id="rId24" Type="http://schemas.openxmlformats.org/officeDocument/2006/relationships/image" Target="../media/image16.svg"/><Relationship Id="rId5" Type="http://schemas.openxmlformats.org/officeDocument/2006/relationships/image" Target="../media/image22.png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image" Target="../media/image18.svg"/><Relationship Id="rId10" Type="http://schemas.openxmlformats.org/officeDocument/2006/relationships/image" Target="../media/image8.svg"/><Relationship Id="rId19" Type="http://schemas.openxmlformats.org/officeDocument/2006/relationships/image" Target="../media/image13.png"/><Relationship Id="rId4" Type="http://schemas.openxmlformats.org/officeDocument/2006/relationships/image" Target="../media/image4.svg"/><Relationship Id="rId9" Type="http://schemas.openxmlformats.org/officeDocument/2006/relationships/image" Target="../media/image7.png"/><Relationship Id="rId14" Type="http://schemas.openxmlformats.org/officeDocument/2006/relationships/image" Target="../media/image10.svg"/><Relationship Id="rId22" Type="http://schemas.openxmlformats.org/officeDocument/2006/relationships/image" Target="../media/image29.svg"/><Relationship Id="rId27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36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37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22.png"/><Relationship Id="rId7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8.svg"/><Relationship Id="rId4" Type="http://schemas.openxmlformats.org/officeDocument/2006/relationships/image" Target="../media/image23.svg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9.png"/><Relationship Id="rId18" Type="http://schemas.openxmlformats.org/officeDocument/2006/relationships/image" Target="../media/image27.svg"/><Relationship Id="rId26" Type="http://schemas.openxmlformats.org/officeDocument/2006/relationships/image" Target="../media/image20.svg"/><Relationship Id="rId3" Type="http://schemas.openxmlformats.org/officeDocument/2006/relationships/image" Target="../media/image3.png"/><Relationship Id="rId21" Type="http://schemas.openxmlformats.org/officeDocument/2006/relationships/image" Target="../media/image28.png"/><Relationship Id="rId7" Type="http://schemas.openxmlformats.org/officeDocument/2006/relationships/image" Target="../media/image5.png"/><Relationship Id="rId12" Type="http://schemas.openxmlformats.org/officeDocument/2006/relationships/image" Target="../media/image25.svg"/><Relationship Id="rId17" Type="http://schemas.openxmlformats.org/officeDocument/2006/relationships/image" Target="../media/image26.png"/><Relationship Id="rId25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2.svg"/><Relationship Id="rId20" Type="http://schemas.openxmlformats.org/officeDocument/2006/relationships/image" Target="../media/image14.svg"/><Relationship Id="rId29" Type="http://schemas.openxmlformats.org/officeDocument/2006/relationships/hyperlink" Target="https://api-v3.mbta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11" Type="http://schemas.openxmlformats.org/officeDocument/2006/relationships/image" Target="../media/image24.png"/><Relationship Id="rId24" Type="http://schemas.openxmlformats.org/officeDocument/2006/relationships/image" Target="../media/image16.svg"/><Relationship Id="rId5" Type="http://schemas.openxmlformats.org/officeDocument/2006/relationships/image" Target="../media/image22.png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image" Target="../media/image18.svg"/><Relationship Id="rId10" Type="http://schemas.openxmlformats.org/officeDocument/2006/relationships/image" Target="../media/image8.svg"/><Relationship Id="rId19" Type="http://schemas.openxmlformats.org/officeDocument/2006/relationships/image" Target="../media/image13.png"/><Relationship Id="rId4" Type="http://schemas.openxmlformats.org/officeDocument/2006/relationships/image" Target="../media/image4.svg"/><Relationship Id="rId9" Type="http://schemas.openxmlformats.org/officeDocument/2006/relationships/image" Target="../media/image7.png"/><Relationship Id="rId14" Type="http://schemas.openxmlformats.org/officeDocument/2006/relationships/image" Target="../media/image10.svg"/><Relationship Id="rId22" Type="http://schemas.openxmlformats.org/officeDocument/2006/relationships/image" Target="../media/image29.svg"/><Relationship Id="rId27" Type="http://schemas.openxmlformats.org/officeDocument/2006/relationships/image" Target="../media/image17.png"/><Relationship Id="rId30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9.png"/><Relationship Id="rId18" Type="http://schemas.openxmlformats.org/officeDocument/2006/relationships/image" Target="../media/image27.svg"/><Relationship Id="rId26" Type="http://schemas.openxmlformats.org/officeDocument/2006/relationships/image" Target="../media/image20.svg"/><Relationship Id="rId3" Type="http://schemas.openxmlformats.org/officeDocument/2006/relationships/image" Target="../media/image3.png"/><Relationship Id="rId21" Type="http://schemas.openxmlformats.org/officeDocument/2006/relationships/image" Target="../media/image28.png"/><Relationship Id="rId7" Type="http://schemas.openxmlformats.org/officeDocument/2006/relationships/image" Target="../media/image5.png"/><Relationship Id="rId12" Type="http://schemas.openxmlformats.org/officeDocument/2006/relationships/image" Target="../media/image25.svg"/><Relationship Id="rId17" Type="http://schemas.openxmlformats.org/officeDocument/2006/relationships/image" Target="../media/image26.png"/><Relationship Id="rId25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2.svg"/><Relationship Id="rId20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11" Type="http://schemas.openxmlformats.org/officeDocument/2006/relationships/image" Target="../media/image24.png"/><Relationship Id="rId24" Type="http://schemas.openxmlformats.org/officeDocument/2006/relationships/image" Target="../media/image16.svg"/><Relationship Id="rId5" Type="http://schemas.openxmlformats.org/officeDocument/2006/relationships/image" Target="../media/image22.png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image" Target="../media/image18.svg"/><Relationship Id="rId10" Type="http://schemas.openxmlformats.org/officeDocument/2006/relationships/image" Target="../media/image8.svg"/><Relationship Id="rId19" Type="http://schemas.openxmlformats.org/officeDocument/2006/relationships/image" Target="../media/image13.png"/><Relationship Id="rId4" Type="http://schemas.openxmlformats.org/officeDocument/2006/relationships/image" Target="../media/image4.svg"/><Relationship Id="rId9" Type="http://schemas.openxmlformats.org/officeDocument/2006/relationships/image" Target="../media/image7.png"/><Relationship Id="rId14" Type="http://schemas.openxmlformats.org/officeDocument/2006/relationships/image" Target="../media/image10.svg"/><Relationship Id="rId22" Type="http://schemas.openxmlformats.org/officeDocument/2006/relationships/image" Target="../media/image29.svg"/><Relationship Id="rId27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166143" cy="10287000"/>
            <a:chOff x="0" y="0"/>
            <a:chExt cx="1705355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05355" cy="1913890"/>
            </a:xfrm>
            <a:custGeom>
              <a:avLst/>
              <a:gdLst/>
              <a:ahLst/>
              <a:cxnLst/>
              <a:rect l="l" t="t" r="r" b="b"/>
              <a:pathLst>
                <a:path w="1705355" h="1913890">
                  <a:moveTo>
                    <a:pt x="0" y="0"/>
                  </a:moveTo>
                  <a:lnTo>
                    <a:pt x="1705355" y="0"/>
                  </a:lnTo>
                  <a:lnTo>
                    <a:pt x="1705355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4B87E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9166143" y="3564945"/>
            <a:ext cx="8563981" cy="4856754"/>
          </a:xfrm>
          <a:custGeom>
            <a:avLst/>
            <a:gdLst/>
            <a:ahLst/>
            <a:cxnLst/>
            <a:rect l="l" t="t" r="r" b="b"/>
            <a:pathLst>
              <a:path w="8563981" h="4856754">
                <a:moveTo>
                  <a:pt x="0" y="0"/>
                </a:moveTo>
                <a:lnTo>
                  <a:pt x="8563981" y="0"/>
                </a:lnTo>
                <a:lnTo>
                  <a:pt x="8563981" y="4856754"/>
                </a:lnTo>
                <a:lnTo>
                  <a:pt x="0" y="4856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367629" y="1866143"/>
            <a:ext cx="6430885" cy="111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8400" spc="310">
                <a:solidFill>
                  <a:srgbClr val="F9F5F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Hypotheses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37753" y="8123219"/>
            <a:ext cx="5806247" cy="1254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9F5F0"/>
                </a:solidFill>
                <a:latin typeface="Poppins"/>
                <a:ea typeface="Poppins"/>
                <a:cs typeface="Poppins"/>
                <a:sym typeface="Poppins"/>
              </a:rPr>
              <a:t>-Suzuki Kaori 21224038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9F5F0"/>
                </a:solidFill>
                <a:latin typeface="Poppins"/>
                <a:ea typeface="Poppins"/>
                <a:cs typeface="Poppins"/>
                <a:sym typeface="Poppins"/>
              </a:rPr>
              <a:t>-Shrestha Roji 22224045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62846" y="3175682"/>
            <a:ext cx="5323753" cy="632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59"/>
              </a:lnSpc>
              <a:spcBef>
                <a:spcPct val="0"/>
              </a:spcBef>
            </a:pPr>
            <a:r>
              <a:rPr lang="en-US" sz="3685" dirty="0">
                <a:solidFill>
                  <a:srgbClr val="F9F5F0"/>
                </a:solidFill>
                <a:latin typeface="Poppins"/>
                <a:ea typeface="Poppins"/>
                <a:cs typeface="Poppins"/>
                <a:sym typeface="Poppins"/>
              </a:rPr>
              <a:t>MBTA Transportation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2382" y="4039932"/>
            <a:ext cx="7146131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F9F5F0"/>
                </a:solidFill>
                <a:latin typeface="Poppins"/>
                <a:ea typeface="Poppins"/>
                <a:cs typeface="Poppins"/>
                <a:sym typeface="Poppins"/>
              </a:rPr>
              <a:t>Python for Data Science and AI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07508" y="7071277"/>
            <a:ext cx="3017292" cy="6640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15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GROUP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-886757" y="5074942"/>
            <a:ext cx="20061513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6192152" y="4823914"/>
            <a:ext cx="502056" cy="50205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321615" y="4857014"/>
            <a:ext cx="502056" cy="50205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6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98294" y="4823914"/>
            <a:ext cx="502056" cy="502056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680306" y="2141674"/>
            <a:ext cx="10530454" cy="1177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730"/>
              </a:lnSpc>
              <a:spcBef>
                <a:spcPct val="0"/>
              </a:spcBef>
            </a:pPr>
            <a:r>
              <a:rPr lang="en-US" sz="9000" b="1">
                <a:solidFill>
                  <a:srgbClr val="CB6CE6"/>
                </a:solidFill>
                <a:latin typeface="DM Sans Bold"/>
                <a:ea typeface="DM Sans Bold"/>
                <a:cs typeface="DM Sans Bold"/>
                <a:sym typeface="DM Sans Bold"/>
              </a:rPr>
              <a:t>Table Of Content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21615" y="5613880"/>
            <a:ext cx="21973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09955" y="5637305"/>
            <a:ext cx="21973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5450" y="6683856"/>
            <a:ext cx="2646492" cy="543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3"/>
              </a:lnSpc>
            </a:pPr>
            <a:r>
              <a:rPr lang="en-US" sz="2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Introduction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98294" y="5579654"/>
            <a:ext cx="21973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939709" y="5637305"/>
            <a:ext cx="21973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id="19" name="Freeform 19"/>
          <p:cNvSpPr/>
          <p:nvPr/>
        </p:nvSpPr>
        <p:spPr>
          <a:xfrm>
            <a:off x="-1573240" y="8893298"/>
            <a:ext cx="4051334" cy="2765036"/>
          </a:xfrm>
          <a:custGeom>
            <a:avLst/>
            <a:gdLst/>
            <a:ahLst/>
            <a:cxnLst/>
            <a:rect l="l" t="t" r="r" b="b"/>
            <a:pathLst>
              <a:path w="4051334" h="2765036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5262955" y="886458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-674156" y="-1322787"/>
            <a:ext cx="4224468" cy="2645573"/>
          </a:xfrm>
          <a:custGeom>
            <a:avLst/>
            <a:gdLst/>
            <a:ahLst/>
            <a:cxnLst/>
            <a:rect l="l" t="t" r="r" b="b"/>
            <a:pathLst>
              <a:path w="4224468" h="2645573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1101574" y="9560661"/>
            <a:ext cx="3169280" cy="2226419"/>
          </a:xfrm>
          <a:custGeom>
            <a:avLst/>
            <a:gdLst/>
            <a:ahLst/>
            <a:cxnLst/>
            <a:rect l="l" t="t" r="r" b="b"/>
            <a:pathLst>
              <a:path w="3169280" h="2226419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9653627" y="-3037933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 rot="-5400000">
            <a:off x="4745771" y="-1877331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2932282" y="9271808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5262955" y="-1072630"/>
            <a:ext cx="1996345" cy="2149497"/>
          </a:xfrm>
          <a:custGeom>
            <a:avLst/>
            <a:gdLst/>
            <a:ahLst/>
            <a:cxnLst/>
            <a:rect l="l" t="t" r="r" b="b"/>
            <a:pathLst>
              <a:path w="1996345" h="2149497">
                <a:moveTo>
                  <a:pt x="0" y="0"/>
                </a:moveTo>
                <a:lnTo>
                  <a:pt x="1996345" y="0"/>
                </a:lnTo>
                <a:lnTo>
                  <a:pt x="1996345" y="2149497"/>
                </a:lnTo>
                <a:lnTo>
                  <a:pt x="0" y="214949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5516162" y="6398106"/>
            <a:ext cx="2646492" cy="1115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3"/>
              </a:lnSpc>
            </a:pPr>
            <a:r>
              <a:rPr lang="en-US" sz="2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First Hypothesis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477104" y="6398106"/>
            <a:ext cx="2646492" cy="1115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3"/>
              </a:lnSpc>
            </a:pPr>
            <a:r>
              <a:rPr lang="en-US" sz="2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Second</a:t>
            </a:r>
          </a:p>
          <a:p>
            <a:pPr algn="ctr">
              <a:lnSpc>
                <a:spcPts val="4523"/>
              </a:lnSpc>
            </a:pPr>
            <a:r>
              <a:rPr lang="en-US" sz="2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Hypothesis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3939709" y="4823914"/>
            <a:ext cx="502056" cy="502056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3437653" y="6683856"/>
            <a:ext cx="2646492" cy="543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3"/>
              </a:lnSpc>
            </a:pPr>
            <a:r>
              <a:rPr lang="en-US" sz="2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495359" y="1724973"/>
            <a:ext cx="9314108" cy="7753765"/>
            <a:chOff x="0" y="0"/>
            <a:chExt cx="2453098" cy="20421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53099" cy="2042144"/>
            </a:xfrm>
            <a:custGeom>
              <a:avLst/>
              <a:gdLst/>
              <a:ahLst/>
              <a:cxnLst/>
              <a:rect l="l" t="t" r="r" b="b"/>
              <a:pathLst>
                <a:path w="2453099" h="2042144">
                  <a:moveTo>
                    <a:pt x="42391" y="0"/>
                  </a:moveTo>
                  <a:lnTo>
                    <a:pt x="2410707" y="0"/>
                  </a:lnTo>
                  <a:cubicBezTo>
                    <a:pt x="2434119" y="0"/>
                    <a:pt x="2453099" y="18979"/>
                    <a:pt x="2453099" y="42391"/>
                  </a:cubicBezTo>
                  <a:lnTo>
                    <a:pt x="2453099" y="1999752"/>
                  </a:lnTo>
                  <a:cubicBezTo>
                    <a:pt x="2453099" y="2023164"/>
                    <a:pt x="2434119" y="2042144"/>
                    <a:pt x="2410707" y="2042144"/>
                  </a:cubicBezTo>
                  <a:lnTo>
                    <a:pt x="42391" y="2042144"/>
                  </a:lnTo>
                  <a:cubicBezTo>
                    <a:pt x="31148" y="2042144"/>
                    <a:pt x="20366" y="2037678"/>
                    <a:pt x="12416" y="2029728"/>
                  </a:cubicBezTo>
                  <a:cubicBezTo>
                    <a:pt x="4466" y="2021778"/>
                    <a:pt x="0" y="2010995"/>
                    <a:pt x="0" y="1999752"/>
                  </a:cubicBezTo>
                  <a:lnTo>
                    <a:pt x="0" y="42391"/>
                  </a:lnTo>
                  <a:cubicBezTo>
                    <a:pt x="0" y="31148"/>
                    <a:pt x="4466" y="20366"/>
                    <a:pt x="12416" y="12416"/>
                  </a:cubicBezTo>
                  <a:cubicBezTo>
                    <a:pt x="20366" y="4466"/>
                    <a:pt x="31148" y="0"/>
                    <a:pt x="4239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23825"/>
              <a:ext cx="2453098" cy="21659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26210" y="1896423"/>
            <a:ext cx="8075477" cy="1950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90"/>
              </a:lnSpc>
            </a:pPr>
            <a:r>
              <a:rPr lang="en-US" sz="7722" b="1">
                <a:solidFill>
                  <a:srgbClr val="CB6CE6"/>
                </a:solidFill>
                <a:latin typeface="DM Sans Bold"/>
                <a:ea typeface="DM Sans Bold"/>
                <a:cs typeface="DM Sans Bold"/>
                <a:sym typeface="DM Sans Bold"/>
              </a:rPr>
              <a:t>What is MBTA?</a:t>
            </a:r>
          </a:p>
          <a:p>
            <a:pPr algn="l">
              <a:lnSpc>
                <a:spcPts val="7490"/>
              </a:lnSpc>
            </a:pPr>
            <a:endParaRPr lang="en-US" sz="7722" b="1">
              <a:solidFill>
                <a:srgbClr val="CB6CE6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26210" y="3107330"/>
            <a:ext cx="7707571" cy="6006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199" spc="1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•The Massachusetts Bay Transportation Authority (MBTA) provides public transit services including subway, bus, commuter rail, and ferry routes in the Greater Boston area. </a:t>
            </a:r>
          </a:p>
          <a:p>
            <a:pPr algn="l">
              <a:lnSpc>
                <a:spcPts val="4589"/>
              </a:lnSpc>
            </a:pPr>
            <a:endParaRPr lang="en-US" sz="3199" spc="191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4319"/>
              </a:lnSpc>
              <a:spcBef>
                <a:spcPct val="0"/>
              </a:spcBef>
            </a:pPr>
            <a:r>
              <a:rPr lang="en-US" sz="3199" spc="1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•The CR-Providence line is part of the commuter rail network connecting Boston with southern Massachusetts and Rhode Island.</a:t>
            </a:r>
          </a:p>
        </p:txBody>
      </p:sp>
      <p:sp>
        <p:nvSpPr>
          <p:cNvPr id="8" name="Freeform 8"/>
          <p:cNvSpPr/>
          <p:nvPr/>
        </p:nvSpPr>
        <p:spPr>
          <a:xfrm>
            <a:off x="15353489" y="854013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-674156" y="-1072630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9144000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5003948" y="-1890601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 rot="-5282649">
            <a:off x="16004285" y="265374"/>
            <a:ext cx="4017207" cy="1370872"/>
          </a:xfrm>
          <a:custGeom>
            <a:avLst/>
            <a:gdLst/>
            <a:ahLst/>
            <a:cxnLst/>
            <a:rect l="l" t="t" r="r" b="b"/>
            <a:pathLst>
              <a:path w="4017207" h="1370872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0323820" y="1995962"/>
            <a:ext cx="6421128" cy="6599146"/>
          </a:xfrm>
          <a:custGeom>
            <a:avLst/>
            <a:gdLst/>
            <a:ahLst/>
            <a:cxnLst/>
            <a:rect l="l" t="t" r="r" b="b"/>
            <a:pathLst>
              <a:path w="6421128" h="6599146">
                <a:moveTo>
                  <a:pt x="0" y="0"/>
                </a:moveTo>
                <a:lnTo>
                  <a:pt x="6421128" y="0"/>
                </a:lnTo>
                <a:lnTo>
                  <a:pt x="6421128" y="6599146"/>
                </a:lnTo>
                <a:lnTo>
                  <a:pt x="0" y="659914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368" t="-4230" r="-46129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2329398" y="9017983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5847044" y="9882374"/>
            <a:ext cx="3296956" cy="809253"/>
          </a:xfrm>
          <a:custGeom>
            <a:avLst/>
            <a:gdLst/>
            <a:ahLst/>
            <a:cxnLst/>
            <a:rect l="l" t="t" r="r" b="b"/>
            <a:pathLst>
              <a:path w="3296956" h="809253">
                <a:moveTo>
                  <a:pt x="0" y="0"/>
                </a:moveTo>
                <a:lnTo>
                  <a:pt x="3296956" y="0"/>
                </a:lnTo>
                <a:lnTo>
                  <a:pt x="3296956" y="809252"/>
                </a:lnTo>
                <a:lnTo>
                  <a:pt x="0" y="8092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4494772" y="9017983"/>
            <a:ext cx="4427843" cy="3481392"/>
          </a:xfrm>
          <a:custGeom>
            <a:avLst/>
            <a:gdLst/>
            <a:ahLst/>
            <a:cxnLst/>
            <a:rect l="l" t="t" r="r" b="b"/>
            <a:pathLst>
              <a:path w="4427843" h="3481392">
                <a:moveTo>
                  <a:pt x="0" y="0"/>
                </a:moveTo>
                <a:lnTo>
                  <a:pt x="4427843" y="0"/>
                </a:lnTo>
                <a:lnTo>
                  <a:pt x="4427843" y="3481391"/>
                </a:lnTo>
                <a:lnTo>
                  <a:pt x="0" y="34813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763398" y="-1534296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7" y="0"/>
                </a:lnTo>
                <a:lnTo>
                  <a:pt x="4899947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2801533" y="-3053980"/>
            <a:ext cx="4292424" cy="3870986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138935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7495522" y="-3297794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4747568">
            <a:off x="-2972342" y="3665317"/>
            <a:ext cx="4896097" cy="2735694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4861154" y="-2102294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7494810" y="2371030"/>
            <a:ext cx="3575541" cy="3575541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2570549" y="949682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5282649">
            <a:off x="16596506" y="6970869"/>
            <a:ext cx="3382987" cy="1154444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8" y="0"/>
                </a:lnTo>
                <a:lnTo>
                  <a:pt x="3382988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7259300" y="-971659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9"/>
                </a:lnTo>
                <a:lnTo>
                  <a:pt x="0" y="3342689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774164" y="571477"/>
            <a:ext cx="16485136" cy="9005006"/>
          </a:xfrm>
          <a:custGeom>
            <a:avLst/>
            <a:gdLst/>
            <a:ahLst/>
            <a:cxnLst/>
            <a:rect l="l" t="t" r="r" b="b"/>
            <a:pathLst>
              <a:path w="16485136" h="9005006">
                <a:moveTo>
                  <a:pt x="0" y="0"/>
                </a:moveTo>
                <a:lnTo>
                  <a:pt x="16485136" y="0"/>
                </a:lnTo>
                <a:lnTo>
                  <a:pt x="16485136" y="9005006"/>
                </a:lnTo>
                <a:lnTo>
                  <a:pt x="0" y="9005006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7018394" y="6927235"/>
            <a:ext cx="11079690" cy="3019216"/>
          </a:xfrm>
          <a:custGeom>
            <a:avLst/>
            <a:gdLst/>
            <a:ahLst/>
            <a:cxnLst/>
            <a:rect l="l" t="t" r="r" b="b"/>
            <a:pathLst>
              <a:path w="11079690" h="3019216">
                <a:moveTo>
                  <a:pt x="0" y="0"/>
                </a:moveTo>
                <a:lnTo>
                  <a:pt x="11079690" y="0"/>
                </a:lnTo>
                <a:lnTo>
                  <a:pt x="11079690" y="3019216"/>
                </a:lnTo>
                <a:lnTo>
                  <a:pt x="0" y="3019216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2329398" y="9017983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5847044" y="9882374"/>
            <a:ext cx="3296956" cy="809253"/>
          </a:xfrm>
          <a:custGeom>
            <a:avLst/>
            <a:gdLst/>
            <a:ahLst/>
            <a:cxnLst/>
            <a:rect l="l" t="t" r="r" b="b"/>
            <a:pathLst>
              <a:path w="3296956" h="809253">
                <a:moveTo>
                  <a:pt x="0" y="0"/>
                </a:moveTo>
                <a:lnTo>
                  <a:pt x="3296956" y="0"/>
                </a:lnTo>
                <a:lnTo>
                  <a:pt x="3296956" y="809252"/>
                </a:lnTo>
                <a:lnTo>
                  <a:pt x="0" y="8092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4494772" y="9017983"/>
            <a:ext cx="4427843" cy="3481392"/>
          </a:xfrm>
          <a:custGeom>
            <a:avLst/>
            <a:gdLst/>
            <a:ahLst/>
            <a:cxnLst/>
            <a:rect l="l" t="t" r="r" b="b"/>
            <a:pathLst>
              <a:path w="4427843" h="3481392">
                <a:moveTo>
                  <a:pt x="0" y="0"/>
                </a:moveTo>
                <a:lnTo>
                  <a:pt x="4427843" y="0"/>
                </a:lnTo>
                <a:lnTo>
                  <a:pt x="4427843" y="3481391"/>
                </a:lnTo>
                <a:lnTo>
                  <a:pt x="0" y="34813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763398" y="-1534296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7" y="0"/>
                </a:lnTo>
                <a:lnTo>
                  <a:pt x="4899947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2801533" y="-3053980"/>
            <a:ext cx="4292424" cy="3870986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138935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7495522" y="-3297794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4747568">
            <a:off x="-2972342" y="3665317"/>
            <a:ext cx="4896097" cy="2735694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4861154" y="-2102294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7494810" y="2371030"/>
            <a:ext cx="3575541" cy="3575541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2570549" y="949682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5282649">
            <a:off x="16596506" y="6970869"/>
            <a:ext cx="3382987" cy="1154444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8" y="0"/>
                </a:lnTo>
                <a:lnTo>
                  <a:pt x="3382988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7259300" y="-971659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9"/>
                </a:lnTo>
                <a:lnTo>
                  <a:pt x="0" y="3342689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916797" y="1448571"/>
            <a:ext cx="14219083" cy="794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2"/>
              </a:lnSpc>
            </a:pPr>
            <a:r>
              <a:rPr lang="en-US" sz="4116">
                <a:solidFill>
                  <a:srgbClr val="2666CF"/>
                </a:solidFill>
                <a:latin typeface="Alice Bold"/>
                <a:ea typeface="Alice Bold"/>
                <a:cs typeface="Alice Bold"/>
                <a:sym typeface="Alice Bold"/>
              </a:rPr>
              <a:t>Research question 1</a:t>
            </a:r>
            <a:r>
              <a:rPr lang="en-US" sz="4116">
                <a:solidFill>
                  <a:srgbClr val="2666CF"/>
                </a:solidFill>
                <a:latin typeface="Alice"/>
                <a:ea typeface="Alice"/>
                <a:cs typeface="Alice"/>
                <a:sym typeface="Alice"/>
              </a:rPr>
              <a:t>: Is there a correlation between direction (inbound or outbound) and the typicality of routes in the CR-Providence route patterns?</a:t>
            </a:r>
          </a:p>
          <a:p>
            <a:pPr algn="l">
              <a:lnSpc>
                <a:spcPts val="5762"/>
              </a:lnSpc>
            </a:pPr>
            <a:endParaRPr lang="en-US" sz="4116">
              <a:solidFill>
                <a:srgbClr val="2666CF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5762"/>
              </a:lnSpc>
            </a:pPr>
            <a:r>
              <a:rPr lang="en-US" sz="4116">
                <a:solidFill>
                  <a:srgbClr val="2666CF"/>
                </a:solidFill>
                <a:latin typeface="Alice Bold"/>
                <a:ea typeface="Alice Bold"/>
                <a:cs typeface="Alice Bold"/>
                <a:sym typeface="Alice Bold"/>
              </a:rPr>
              <a:t>Hypothesis 1</a:t>
            </a:r>
            <a:r>
              <a:rPr lang="en-US" sz="4116">
                <a:solidFill>
                  <a:srgbClr val="2666CF"/>
                </a:solidFill>
                <a:latin typeface="Alice"/>
                <a:ea typeface="Alice"/>
                <a:cs typeface="Alice"/>
                <a:sym typeface="Alice"/>
              </a:rPr>
              <a:t>: Routes with higher typicality scores are more likely to be inbound (direction_id = 0).</a:t>
            </a:r>
          </a:p>
          <a:p>
            <a:pPr algn="l">
              <a:lnSpc>
                <a:spcPts val="5762"/>
              </a:lnSpc>
            </a:pPr>
            <a:endParaRPr lang="en-US" sz="4116">
              <a:solidFill>
                <a:srgbClr val="2666CF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5762"/>
              </a:lnSpc>
            </a:pPr>
            <a:r>
              <a:rPr lang="en-US" sz="4116">
                <a:solidFill>
                  <a:srgbClr val="2666CF"/>
                </a:solidFill>
                <a:latin typeface="Alice Bold"/>
                <a:ea typeface="Alice Bold"/>
                <a:cs typeface="Alice Bold"/>
                <a:sym typeface="Alice Bold"/>
              </a:rPr>
              <a:t>Null-hypothesis 1</a:t>
            </a:r>
            <a:r>
              <a:rPr lang="en-US" sz="4116">
                <a:solidFill>
                  <a:srgbClr val="2666CF"/>
                </a:solidFill>
                <a:latin typeface="Alice"/>
                <a:ea typeface="Alice"/>
                <a:cs typeface="Alice"/>
                <a:sym typeface="Alice"/>
              </a:rPr>
              <a:t>: There is no correlation between direction (inbound or outbound) and the typicality of routes in the CR-Providence route patterns.</a:t>
            </a:r>
          </a:p>
          <a:p>
            <a:pPr algn="l">
              <a:lnSpc>
                <a:spcPts val="5762"/>
              </a:lnSpc>
              <a:spcBef>
                <a:spcPct val="0"/>
              </a:spcBef>
            </a:pPr>
            <a:endParaRPr lang="en-US" sz="4116">
              <a:solidFill>
                <a:srgbClr val="2666CF"/>
              </a:solidFill>
              <a:latin typeface="Alice"/>
              <a:ea typeface="Alice"/>
              <a:cs typeface="Alice"/>
              <a:sym typeface="Alic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2537770"/>
            <a:ext cx="16961093" cy="5211461"/>
          </a:xfrm>
          <a:custGeom>
            <a:avLst/>
            <a:gdLst/>
            <a:ahLst/>
            <a:cxnLst/>
            <a:rect l="l" t="t" r="r" b="b"/>
            <a:pathLst>
              <a:path w="16961093" h="5211461">
                <a:moveTo>
                  <a:pt x="0" y="0"/>
                </a:moveTo>
                <a:lnTo>
                  <a:pt x="16961093" y="0"/>
                </a:lnTo>
                <a:lnTo>
                  <a:pt x="16961093" y="5211460"/>
                </a:lnTo>
                <a:lnTo>
                  <a:pt x="0" y="52114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83" t="-2886" r="-7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3143718" y="-858228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7" y="0"/>
                </a:lnTo>
                <a:lnTo>
                  <a:pt x="4899947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561950" y="8105290"/>
            <a:ext cx="4427843" cy="3481392"/>
          </a:xfrm>
          <a:custGeom>
            <a:avLst/>
            <a:gdLst/>
            <a:ahLst/>
            <a:cxnLst/>
            <a:rect l="l" t="t" r="r" b="b"/>
            <a:pathLst>
              <a:path w="4427843" h="3481392">
                <a:moveTo>
                  <a:pt x="0" y="0"/>
                </a:moveTo>
                <a:lnTo>
                  <a:pt x="4427843" y="0"/>
                </a:lnTo>
                <a:lnTo>
                  <a:pt x="4427843" y="3481392"/>
                </a:lnTo>
                <a:lnTo>
                  <a:pt x="0" y="34813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437532" y="-858228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449974" y="8073080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8" y="0"/>
                </a:lnTo>
                <a:lnTo>
                  <a:pt x="4899948" y="3344215"/>
                </a:lnTo>
                <a:lnTo>
                  <a:pt x="0" y="33442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9750123" y="-1545841"/>
            <a:ext cx="4980952" cy="3731186"/>
          </a:xfrm>
          <a:custGeom>
            <a:avLst/>
            <a:gdLst/>
            <a:ahLst/>
            <a:cxnLst/>
            <a:rect l="l" t="t" r="r" b="b"/>
            <a:pathLst>
              <a:path w="4980952" h="3731186">
                <a:moveTo>
                  <a:pt x="0" y="0"/>
                </a:moveTo>
                <a:lnTo>
                  <a:pt x="4980952" y="0"/>
                </a:lnTo>
                <a:lnTo>
                  <a:pt x="4980952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2329398" y="9017983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5847044" y="9882374"/>
            <a:ext cx="3296956" cy="809253"/>
          </a:xfrm>
          <a:custGeom>
            <a:avLst/>
            <a:gdLst/>
            <a:ahLst/>
            <a:cxnLst/>
            <a:rect l="l" t="t" r="r" b="b"/>
            <a:pathLst>
              <a:path w="3296956" h="809253">
                <a:moveTo>
                  <a:pt x="0" y="0"/>
                </a:moveTo>
                <a:lnTo>
                  <a:pt x="3296956" y="0"/>
                </a:lnTo>
                <a:lnTo>
                  <a:pt x="3296956" y="809252"/>
                </a:lnTo>
                <a:lnTo>
                  <a:pt x="0" y="8092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495359" y="1162235"/>
            <a:ext cx="17098731" cy="8096065"/>
            <a:chOff x="0" y="0"/>
            <a:chExt cx="4503369" cy="21322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03369" cy="2132297"/>
            </a:xfrm>
            <a:custGeom>
              <a:avLst/>
              <a:gdLst/>
              <a:ahLst/>
              <a:cxnLst/>
              <a:rect l="l" t="t" r="r" b="b"/>
              <a:pathLst>
                <a:path w="4503369" h="2132297">
                  <a:moveTo>
                    <a:pt x="23092" y="0"/>
                  </a:moveTo>
                  <a:lnTo>
                    <a:pt x="4480278" y="0"/>
                  </a:lnTo>
                  <a:cubicBezTo>
                    <a:pt x="4486402" y="0"/>
                    <a:pt x="4492275" y="2433"/>
                    <a:pt x="4496606" y="6763"/>
                  </a:cubicBezTo>
                  <a:cubicBezTo>
                    <a:pt x="4500937" y="11094"/>
                    <a:pt x="4503369" y="16967"/>
                    <a:pt x="4503369" y="23092"/>
                  </a:cubicBezTo>
                  <a:lnTo>
                    <a:pt x="4503369" y="2109205"/>
                  </a:lnTo>
                  <a:cubicBezTo>
                    <a:pt x="4503369" y="2115330"/>
                    <a:pt x="4500937" y="2121203"/>
                    <a:pt x="4496606" y="2125534"/>
                  </a:cubicBezTo>
                  <a:cubicBezTo>
                    <a:pt x="4492275" y="2129864"/>
                    <a:pt x="4486402" y="2132297"/>
                    <a:pt x="4480278" y="2132297"/>
                  </a:cubicBezTo>
                  <a:lnTo>
                    <a:pt x="23092" y="2132297"/>
                  </a:lnTo>
                  <a:cubicBezTo>
                    <a:pt x="16967" y="2132297"/>
                    <a:pt x="11094" y="2129864"/>
                    <a:pt x="6763" y="2125534"/>
                  </a:cubicBezTo>
                  <a:cubicBezTo>
                    <a:pt x="2433" y="2121203"/>
                    <a:pt x="0" y="2115330"/>
                    <a:pt x="0" y="2109205"/>
                  </a:cubicBezTo>
                  <a:lnTo>
                    <a:pt x="0" y="23092"/>
                  </a:lnTo>
                  <a:cubicBezTo>
                    <a:pt x="0" y="16967"/>
                    <a:pt x="2433" y="11094"/>
                    <a:pt x="6763" y="6763"/>
                  </a:cubicBezTo>
                  <a:cubicBezTo>
                    <a:pt x="11094" y="2433"/>
                    <a:pt x="16967" y="0"/>
                    <a:pt x="2309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23825"/>
              <a:ext cx="4503369" cy="22561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494772" y="9017983"/>
            <a:ext cx="4427843" cy="3481392"/>
          </a:xfrm>
          <a:custGeom>
            <a:avLst/>
            <a:gdLst/>
            <a:ahLst/>
            <a:cxnLst/>
            <a:rect l="l" t="t" r="r" b="b"/>
            <a:pathLst>
              <a:path w="4427843" h="3481392">
                <a:moveTo>
                  <a:pt x="0" y="0"/>
                </a:moveTo>
                <a:lnTo>
                  <a:pt x="4427843" y="0"/>
                </a:lnTo>
                <a:lnTo>
                  <a:pt x="4427843" y="3481391"/>
                </a:lnTo>
                <a:lnTo>
                  <a:pt x="0" y="34813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-763398" y="-1534296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7" y="0"/>
                </a:lnTo>
                <a:lnTo>
                  <a:pt x="4899947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7495522" y="-3297794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4747568">
            <a:off x="-2972342" y="3665317"/>
            <a:ext cx="4896097" cy="2735694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 rot="-5282649">
            <a:off x="16596506" y="6970869"/>
            <a:ext cx="3382987" cy="1154444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8" y="0"/>
                </a:lnTo>
                <a:lnTo>
                  <a:pt x="3382988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7259300" y="-971659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9"/>
                </a:lnTo>
                <a:lnTo>
                  <a:pt x="0" y="334268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797350" y="1266764"/>
            <a:ext cx="12004183" cy="110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2666CF"/>
                </a:solidFill>
                <a:latin typeface="Alice Bold"/>
                <a:ea typeface="Alice Bold"/>
                <a:cs typeface="Alice Bold"/>
                <a:sym typeface="Alice Bold"/>
              </a:rPr>
              <a:t>Hypothesis 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3966" y="2656139"/>
            <a:ext cx="8210034" cy="6057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The correlation score between </a:t>
            </a:r>
            <a:r>
              <a:rPr lang="en-US" sz="3399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direction</a:t>
            </a:r>
            <a:r>
              <a:rPr lang="en-US" sz="33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and </a:t>
            </a:r>
            <a:r>
              <a:rPr lang="en-US" sz="3399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typicality</a:t>
            </a:r>
            <a:r>
              <a:rPr lang="en-US" sz="33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is</a:t>
            </a:r>
            <a:r>
              <a:rPr lang="en-US" sz="3399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 -0.008</a:t>
            </a:r>
            <a:r>
              <a:rPr lang="en-US" sz="33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, which indicates almost </a:t>
            </a:r>
            <a:r>
              <a:rPr lang="en-US" sz="3399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no linear correlation</a:t>
            </a:r>
            <a:r>
              <a:rPr lang="en-US" sz="33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between these two variables.</a:t>
            </a:r>
          </a:p>
          <a:p>
            <a:pPr algn="l">
              <a:lnSpc>
                <a:spcPts val="4079"/>
              </a:lnSpc>
            </a:pPr>
            <a:endParaRPr lang="en-US" sz="3399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marL="734059" lvl="1" indent="-367030" algn="l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The direction (whether the route is inbound or outbound) does not appear to be related to the typicality score. Thus, the hypothesis is not supported by the data .</a:t>
            </a:r>
          </a:p>
          <a:p>
            <a:pPr marL="0" lvl="0" indent="0" algn="l">
              <a:lnSpc>
                <a:spcPts val="3581"/>
              </a:lnSpc>
            </a:pPr>
            <a:endParaRPr lang="en-US" sz="3399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9611363" y="2775176"/>
            <a:ext cx="7416083" cy="5838659"/>
          </a:xfrm>
          <a:custGeom>
            <a:avLst/>
            <a:gdLst/>
            <a:ahLst/>
            <a:cxnLst/>
            <a:rect l="l" t="t" r="r" b="b"/>
            <a:pathLst>
              <a:path w="7416083" h="5838659">
                <a:moveTo>
                  <a:pt x="0" y="0"/>
                </a:moveTo>
                <a:lnTo>
                  <a:pt x="7416084" y="0"/>
                </a:lnTo>
                <a:lnTo>
                  <a:pt x="7416084" y="5838660"/>
                </a:lnTo>
                <a:lnTo>
                  <a:pt x="0" y="583866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2329398" y="9017983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5847044" y="9882374"/>
            <a:ext cx="3296956" cy="809253"/>
          </a:xfrm>
          <a:custGeom>
            <a:avLst/>
            <a:gdLst/>
            <a:ahLst/>
            <a:cxnLst/>
            <a:rect l="l" t="t" r="r" b="b"/>
            <a:pathLst>
              <a:path w="3296956" h="809253">
                <a:moveTo>
                  <a:pt x="0" y="0"/>
                </a:moveTo>
                <a:lnTo>
                  <a:pt x="3296956" y="0"/>
                </a:lnTo>
                <a:lnTo>
                  <a:pt x="3296956" y="809252"/>
                </a:lnTo>
                <a:lnTo>
                  <a:pt x="0" y="8092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4494772" y="9017983"/>
            <a:ext cx="4427843" cy="3481392"/>
          </a:xfrm>
          <a:custGeom>
            <a:avLst/>
            <a:gdLst/>
            <a:ahLst/>
            <a:cxnLst/>
            <a:rect l="l" t="t" r="r" b="b"/>
            <a:pathLst>
              <a:path w="4427843" h="3481392">
                <a:moveTo>
                  <a:pt x="0" y="0"/>
                </a:moveTo>
                <a:lnTo>
                  <a:pt x="4427843" y="0"/>
                </a:lnTo>
                <a:lnTo>
                  <a:pt x="4427843" y="3481391"/>
                </a:lnTo>
                <a:lnTo>
                  <a:pt x="0" y="34813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763398" y="-1534296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7" y="0"/>
                </a:lnTo>
                <a:lnTo>
                  <a:pt x="4899947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2801533" y="-3053980"/>
            <a:ext cx="4292424" cy="3870986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138935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7495522" y="-3297794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4747568">
            <a:off x="-2972342" y="3665317"/>
            <a:ext cx="4896097" cy="2735694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4861154" y="-2102294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7494810" y="2371030"/>
            <a:ext cx="3575541" cy="3575541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2570549" y="949682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5282649">
            <a:off x="16596506" y="6970869"/>
            <a:ext cx="3382987" cy="1154444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8" y="0"/>
                </a:lnTo>
                <a:lnTo>
                  <a:pt x="3382988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7259300" y="-971659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9"/>
                </a:lnTo>
                <a:lnTo>
                  <a:pt x="0" y="3342689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686576" y="1227827"/>
            <a:ext cx="14219083" cy="7274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40"/>
              </a:lnSpc>
            </a:pPr>
            <a:r>
              <a:rPr lang="en-US" sz="4600">
                <a:solidFill>
                  <a:srgbClr val="2666CF"/>
                </a:solidFill>
                <a:latin typeface="Alice Bold"/>
                <a:ea typeface="Alice Bold"/>
                <a:cs typeface="Alice Bold"/>
                <a:sym typeface="Alice Bold"/>
              </a:rPr>
              <a:t>Research question 2</a:t>
            </a:r>
            <a:r>
              <a:rPr lang="en-US" sz="4600">
                <a:solidFill>
                  <a:srgbClr val="2666CF"/>
                </a:solidFill>
                <a:latin typeface="Alice"/>
                <a:ea typeface="Alice"/>
                <a:cs typeface="Alice"/>
                <a:sym typeface="Alice"/>
              </a:rPr>
              <a:t>: Are certain route patterns more frequent in the data?</a:t>
            </a:r>
          </a:p>
          <a:p>
            <a:pPr algn="l">
              <a:lnSpc>
                <a:spcPts val="6440"/>
              </a:lnSpc>
            </a:pPr>
            <a:endParaRPr lang="en-US" sz="4600">
              <a:solidFill>
                <a:srgbClr val="2666CF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6440"/>
              </a:lnSpc>
            </a:pPr>
            <a:r>
              <a:rPr lang="en-US" sz="4600">
                <a:solidFill>
                  <a:srgbClr val="2666CF"/>
                </a:solidFill>
                <a:latin typeface="Alice Bold"/>
                <a:ea typeface="Alice Bold"/>
                <a:cs typeface="Alice Bold"/>
                <a:sym typeface="Alice Bold"/>
              </a:rPr>
              <a:t>Hypothesis 2</a:t>
            </a:r>
            <a:r>
              <a:rPr lang="en-US" sz="4600">
                <a:solidFill>
                  <a:srgbClr val="2666CF"/>
                </a:solidFill>
                <a:latin typeface="Alice"/>
                <a:ea typeface="Alice"/>
                <a:cs typeface="Alice"/>
                <a:sym typeface="Alice"/>
              </a:rPr>
              <a:t>: Specific patterns such as "South Station - Wickford Junction" appear more frequently.</a:t>
            </a:r>
          </a:p>
          <a:p>
            <a:pPr algn="l">
              <a:lnSpc>
                <a:spcPts val="6440"/>
              </a:lnSpc>
            </a:pPr>
            <a:endParaRPr lang="en-US" sz="4600">
              <a:solidFill>
                <a:srgbClr val="2666CF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6440"/>
              </a:lnSpc>
              <a:spcBef>
                <a:spcPct val="0"/>
              </a:spcBef>
            </a:pPr>
            <a:r>
              <a:rPr lang="en-US" sz="4600">
                <a:solidFill>
                  <a:srgbClr val="2666CF"/>
                </a:solidFill>
                <a:latin typeface="Alice Bold"/>
                <a:ea typeface="Alice Bold"/>
                <a:cs typeface="Alice Bold"/>
                <a:sym typeface="Alice Bold"/>
              </a:rPr>
              <a:t>Null Hypothesis 2</a:t>
            </a:r>
            <a:r>
              <a:rPr lang="en-US" sz="4600">
                <a:solidFill>
                  <a:srgbClr val="2666CF"/>
                </a:solidFill>
                <a:latin typeface="Alice"/>
                <a:ea typeface="Alice"/>
                <a:cs typeface="Alice"/>
                <a:sym typeface="Alice"/>
              </a:rPr>
              <a:t>: All route patterns in the CR-Providence data are equally frequent, with no specific patterns appearing more frequently than others.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18139" y="9229218"/>
            <a:ext cx="2735548" cy="2760645"/>
          </a:xfrm>
          <a:custGeom>
            <a:avLst/>
            <a:gdLst/>
            <a:ahLst/>
            <a:cxnLst/>
            <a:rect l="l" t="t" r="r" b="b"/>
            <a:pathLst>
              <a:path w="2735548" h="2760645">
                <a:moveTo>
                  <a:pt x="0" y="0"/>
                </a:moveTo>
                <a:lnTo>
                  <a:pt x="2735548" y="0"/>
                </a:lnTo>
                <a:lnTo>
                  <a:pt x="2735548" y="2760645"/>
                </a:lnTo>
                <a:lnTo>
                  <a:pt x="0" y="27606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92248" y="2030424"/>
            <a:ext cx="17903505" cy="3737357"/>
          </a:xfrm>
          <a:custGeom>
            <a:avLst/>
            <a:gdLst/>
            <a:ahLst/>
            <a:cxnLst/>
            <a:rect l="l" t="t" r="r" b="b"/>
            <a:pathLst>
              <a:path w="17903505" h="3737357">
                <a:moveTo>
                  <a:pt x="0" y="0"/>
                </a:moveTo>
                <a:lnTo>
                  <a:pt x="17903504" y="0"/>
                </a:lnTo>
                <a:lnTo>
                  <a:pt x="17903504" y="3737356"/>
                </a:lnTo>
                <a:lnTo>
                  <a:pt x="0" y="37373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2296274" y="6172200"/>
            <a:ext cx="4963026" cy="4114800"/>
          </a:xfrm>
          <a:custGeom>
            <a:avLst/>
            <a:gdLst/>
            <a:ahLst/>
            <a:cxnLst/>
            <a:rect l="l" t="t" r="r" b="b"/>
            <a:pathLst>
              <a:path w="4963026" h="4114800">
                <a:moveTo>
                  <a:pt x="0" y="0"/>
                </a:moveTo>
                <a:lnTo>
                  <a:pt x="4963026" y="0"/>
                </a:lnTo>
                <a:lnTo>
                  <a:pt x="49630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495359" y="1162235"/>
            <a:ext cx="17098731" cy="8398426"/>
            <a:chOff x="0" y="0"/>
            <a:chExt cx="4503369" cy="22119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03369" cy="2211931"/>
            </a:xfrm>
            <a:custGeom>
              <a:avLst/>
              <a:gdLst/>
              <a:ahLst/>
              <a:cxnLst/>
              <a:rect l="l" t="t" r="r" b="b"/>
              <a:pathLst>
                <a:path w="4503369" h="2211931">
                  <a:moveTo>
                    <a:pt x="23092" y="0"/>
                  </a:moveTo>
                  <a:lnTo>
                    <a:pt x="4480278" y="0"/>
                  </a:lnTo>
                  <a:cubicBezTo>
                    <a:pt x="4486402" y="0"/>
                    <a:pt x="4492275" y="2433"/>
                    <a:pt x="4496606" y="6763"/>
                  </a:cubicBezTo>
                  <a:cubicBezTo>
                    <a:pt x="4500937" y="11094"/>
                    <a:pt x="4503369" y="16967"/>
                    <a:pt x="4503369" y="23092"/>
                  </a:cubicBezTo>
                  <a:lnTo>
                    <a:pt x="4503369" y="2188840"/>
                  </a:lnTo>
                  <a:cubicBezTo>
                    <a:pt x="4503369" y="2194964"/>
                    <a:pt x="4500937" y="2200837"/>
                    <a:pt x="4496606" y="2205168"/>
                  </a:cubicBezTo>
                  <a:cubicBezTo>
                    <a:pt x="4492275" y="2209498"/>
                    <a:pt x="4486402" y="2211931"/>
                    <a:pt x="4480278" y="2211931"/>
                  </a:cubicBezTo>
                  <a:lnTo>
                    <a:pt x="23092" y="2211931"/>
                  </a:lnTo>
                  <a:cubicBezTo>
                    <a:pt x="16967" y="2211931"/>
                    <a:pt x="11094" y="2209498"/>
                    <a:pt x="6763" y="2205168"/>
                  </a:cubicBezTo>
                  <a:cubicBezTo>
                    <a:pt x="2433" y="2200837"/>
                    <a:pt x="0" y="2194964"/>
                    <a:pt x="0" y="2188840"/>
                  </a:cubicBezTo>
                  <a:lnTo>
                    <a:pt x="0" y="23092"/>
                  </a:lnTo>
                  <a:cubicBezTo>
                    <a:pt x="0" y="16967"/>
                    <a:pt x="2433" y="11094"/>
                    <a:pt x="6763" y="6763"/>
                  </a:cubicBezTo>
                  <a:cubicBezTo>
                    <a:pt x="11094" y="2433"/>
                    <a:pt x="16967" y="0"/>
                    <a:pt x="2309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23825"/>
              <a:ext cx="4503369" cy="23357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1573240" y="8893298"/>
            <a:ext cx="4051334" cy="2765036"/>
          </a:xfrm>
          <a:custGeom>
            <a:avLst/>
            <a:gdLst/>
            <a:ahLst/>
            <a:cxnLst/>
            <a:rect l="l" t="t" r="r" b="b"/>
            <a:pathLst>
              <a:path w="4051334" h="2765036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262955" y="886458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5314859" y="-1320668"/>
            <a:ext cx="4224468" cy="2645573"/>
          </a:xfrm>
          <a:custGeom>
            <a:avLst/>
            <a:gdLst/>
            <a:ahLst/>
            <a:cxnLst/>
            <a:rect l="l" t="t" r="r" b="b"/>
            <a:pathLst>
              <a:path w="4224468" h="2645573">
                <a:moveTo>
                  <a:pt x="0" y="0"/>
                </a:moveTo>
                <a:lnTo>
                  <a:pt x="4224468" y="0"/>
                </a:lnTo>
                <a:lnTo>
                  <a:pt x="4224468" y="2645573"/>
                </a:lnTo>
                <a:lnTo>
                  <a:pt x="0" y="26455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101574" y="9560661"/>
            <a:ext cx="3169280" cy="2226419"/>
          </a:xfrm>
          <a:custGeom>
            <a:avLst/>
            <a:gdLst/>
            <a:ahLst/>
            <a:cxnLst/>
            <a:rect l="l" t="t" r="r" b="b"/>
            <a:pathLst>
              <a:path w="3169280" h="2226419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9653627" y="-3037933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5262955" y="-1072630"/>
            <a:ext cx="1996345" cy="2149497"/>
          </a:xfrm>
          <a:custGeom>
            <a:avLst/>
            <a:gdLst/>
            <a:ahLst/>
            <a:cxnLst/>
            <a:rect l="l" t="t" r="r" b="b"/>
            <a:pathLst>
              <a:path w="1996345" h="2149497">
                <a:moveTo>
                  <a:pt x="0" y="0"/>
                </a:moveTo>
                <a:lnTo>
                  <a:pt x="1996345" y="0"/>
                </a:lnTo>
                <a:lnTo>
                  <a:pt x="1996345" y="2149497"/>
                </a:lnTo>
                <a:lnTo>
                  <a:pt x="0" y="214949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3151347" y="1941445"/>
            <a:ext cx="10564950" cy="5044764"/>
          </a:xfrm>
          <a:custGeom>
            <a:avLst/>
            <a:gdLst/>
            <a:ahLst/>
            <a:cxnLst/>
            <a:rect l="l" t="t" r="r" b="b"/>
            <a:pathLst>
              <a:path w="10564950" h="5044764">
                <a:moveTo>
                  <a:pt x="0" y="0"/>
                </a:moveTo>
                <a:lnTo>
                  <a:pt x="10564950" y="0"/>
                </a:lnTo>
                <a:lnTo>
                  <a:pt x="10564950" y="5044764"/>
                </a:lnTo>
                <a:lnTo>
                  <a:pt x="0" y="504476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2005193" y="6306676"/>
            <a:ext cx="14996992" cy="3813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63"/>
              </a:lnSpc>
            </a:pPr>
            <a:endParaRPr/>
          </a:p>
          <a:p>
            <a:pPr algn="l">
              <a:lnSpc>
                <a:spcPts val="5063"/>
              </a:lnSpc>
            </a:pPr>
            <a:r>
              <a:rPr lang="en-US" sz="3616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The bar plot of route patterns shows that "South Station - Wickford Junction via Back Bay" and similar patterns have higher number. </a:t>
            </a:r>
          </a:p>
          <a:p>
            <a:pPr algn="l">
              <a:lnSpc>
                <a:spcPts val="5063"/>
              </a:lnSpc>
            </a:pPr>
            <a:r>
              <a:rPr lang="en-US" sz="3616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This confirms that certain route patterns are indeed more frequent than others. Our hypothesis is supported.</a:t>
            </a:r>
          </a:p>
          <a:p>
            <a:pPr algn="ctr">
              <a:lnSpc>
                <a:spcPts val="5063"/>
              </a:lnSpc>
              <a:spcBef>
                <a:spcPct val="0"/>
              </a:spcBef>
            </a:pPr>
            <a:endParaRPr lang="en-US" sz="3616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83392" y="1191555"/>
            <a:ext cx="4735909" cy="110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2666CF"/>
                </a:solidFill>
                <a:latin typeface="Alice Bold"/>
                <a:ea typeface="Alice Bold"/>
                <a:cs typeface="Alice Bold"/>
                <a:sym typeface="Alice Bold"/>
              </a:rPr>
              <a:t>Hypothesis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212040" y="3258853"/>
            <a:ext cx="7025086" cy="2282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Conclusion</a:t>
            </a:r>
          </a:p>
          <a:p>
            <a:pPr algn="l">
              <a:lnSpc>
                <a:spcPts val="8730"/>
              </a:lnSpc>
            </a:pPr>
            <a:endParaRPr lang="en-US" sz="9000">
              <a:solidFill>
                <a:srgbClr val="000000"/>
              </a:solidFill>
              <a:latin typeface="Alice Bold"/>
              <a:ea typeface="Alice Bold"/>
              <a:cs typeface="Alice Bold"/>
              <a:sym typeface="Alice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8155484" y="1170261"/>
            <a:ext cx="8565934" cy="3435586"/>
            <a:chOff x="0" y="0"/>
            <a:chExt cx="2867517" cy="11500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517" cy="1150091"/>
            </a:xfrm>
            <a:custGeom>
              <a:avLst/>
              <a:gdLst/>
              <a:ahLst/>
              <a:cxnLst/>
              <a:rect l="l" t="t" r="r" b="b"/>
              <a:pathLst>
                <a:path w="2867517" h="1150091">
                  <a:moveTo>
                    <a:pt x="13557" y="0"/>
                  </a:moveTo>
                  <a:lnTo>
                    <a:pt x="2853960" y="0"/>
                  </a:lnTo>
                  <a:cubicBezTo>
                    <a:pt x="2857555" y="0"/>
                    <a:pt x="2861004" y="1428"/>
                    <a:pt x="2863546" y="3971"/>
                  </a:cubicBezTo>
                  <a:cubicBezTo>
                    <a:pt x="2866088" y="6513"/>
                    <a:pt x="2867517" y="9961"/>
                    <a:pt x="2867517" y="13557"/>
                  </a:cubicBezTo>
                  <a:lnTo>
                    <a:pt x="2867517" y="1136534"/>
                  </a:lnTo>
                  <a:cubicBezTo>
                    <a:pt x="2867517" y="1140129"/>
                    <a:pt x="2866088" y="1143578"/>
                    <a:pt x="2863546" y="1146120"/>
                  </a:cubicBezTo>
                  <a:cubicBezTo>
                    <a:pt x="2861004" y="1148663"/>
                    <a:pt x="2857555" y="1150091"/>
                    <a:pt x="2853960" y="1150091"/>
                  </a:cubicBezTo>
                  <a:lnTo>
                    <a:pt x="13557" y="1150091"/>
                  </a:lnTo>
                  <a:cubicBezTo>
                    <a:pt x="9961" y="1150091"/>
                    <a:pt x="6513" y="1148663"/>
                    <a:pt x="3971" y="1146120"/>
                  </a:cubicBezTo>
                  <a:cubicBezTo>
                    <a:pt x="1428" y="1143578"/>
                    <a:pt x="0" y="1140129"/>
                    <a:pt x="0" y="1136534"/>
                  </a:cubicBezTo>
                  <a:lnTo>
                    <a:pt x="0" y="13557"/>
                  </a:lnTo>
                  <a:cubicBezTo>
                    <a:pt x="0" y="9961"/>
                    <a:pt x="1428" y="6513"/>
                    <a:pt x="3971" y="3971"/>
                  </a:cubicBezTo>
                  <a:cubicBezTo>
                    <a:pt x="6513" y="1428"/>
                    <a:pt x="9961" y="0"/>
                    <a:pt x="13557" y="0"/>
                  </a:cubicBezTo>
                  <a:close/>
                </a:path>
              </a:pathLst>
            </a:custGeom>
            <a:solidFill>
              <a:srgbClr val="9DC6E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85725"/>
              <a:ext cx="2867517" cy="10643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673906" y="2214906"/>
            <a:ext cx="1578952" cy="1043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spc="-656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01.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224824" y="6362162"/>
            <a:ext cx="8527410" cy="3142429"/>
            <a:chOff x="0" y="0"/>
            <a:chExt cx="2905766" cy="10708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05766" cy="1070802"/>
            </a:xfrm>
            <a:custGeom>
              <a:avLst/>
              <a:gdLst/>
              <a:ahLst/>
              <a:cxnLst/>
              <a:rect l="l" t="t" r="r" b="b"/>
              <a:pathLst>
                <a:path w="2905766" h="1070802">
                  <a:moveTo>
                    <a:pt x="13618" y="0"/>
                  </a:moveTo>
                  <a:lnTo>
                    <a:pt x="2892148" y="0"/>
                  </a:lnTo>
                  <a:cubicBezTo>
                    <a:pt x="2895760" y="0"/>
                    <a:pt x="2899224" y="1435"/>
                    <a:pt x="2901778" y="3989"/>
                  </a:cubicBezTo>
                  <a:cubicBezTo>
                    <a:pt x="2904332" y="6543"/>
                    <a:pt x="2905766" y="10006"/>
                    <a:pt x="2905766" y="13618"/>
                  </a:cubicBezTo>
                  <a:lnTo>
                    <a:pt x="2905766" y="1057183"/>
                  </a:lnTo>
                  <a:cubicBezTo>
                    <a:pt x="2905766" y="1064704"/>
                    <a:pt x="2899669" y="1070802"/>
                    <a:pt x="2892148" y="1070802"/>
                  </a:cubicBezTo>
                  <a:lnTo>
                    <a:pt x="13618" y="1070802"/>
                  </a:lnTo>
                  <a:cubicBezTo>
                    <a:pt x="10006" y="1070802"/>
                    <a:pt x="6543" y="1069367"/>
                    <a:pt x="3989" y="1066813"/>
                  </a:cubicBezTo>
                  <a:cubicBezTo>
                    <a:pt x="1435" y="1064259"/>
                    <a:pt x="0" y="1060795"/>
                    <a:pt x="0" y="1057183"/>
                  </a:cubicBezTo>
                  <a:lnTo>
                    <a:pt x="0" y="13618"/>
                  </a:lnTo>
                  <a:cubicBezTo>
                    <a:pt x="0" y="10006"/>
                    <a:pt x="1435" y="6543"/>
                    <a:pt x="3989" y="3989"/>
                  </a:cubicBezTo>
                  <a:cubicBezTo>
                    <a:pt x="6543" y="1435"/>
                    <a:pt x="10006" y="0"/>
                    <a:pt x="13618" y="0"/>
                  </a:cubicBezTo>
                  <a:close/>
                </a:path>
              </a:pathLst>
            </a:custGeom>
            <a:solidFill>
              <a:srgbClr val="9DC6E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85725"/>
              <a:ext cx="2905766" cy="9850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687802" y="7261505"/>
            <a:ext cx="1551160" cy="1022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45"/>
              </a:lnSpc>
            </a:pPr>
            <a:r>
              <a:rPr lang="en-US" sz="7859" spc="-644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02.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16944" y="6642391"/>
            <a:ext cx="6133688" cy="2458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07"/>
              </a:lnSpc>
              <a:spcBef>
                <a:spcPct val="0"/>
              </a:spcBef>
            </a:pPr>
            <a:r>
              <a:rPr lang="en-US" sz="3634" spc="58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Specific patterns such as "South Station - Wickford Junction" appear </a:t>
            </a:r>
            <a:r>
              <a:rPr lang="en-US" sz="3634" spc="58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more frequently. </a:t>
            </a:r>
            <a:r>
              <a:rPr lang="en-US" sz="3634" spc="58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(hypothesis)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15342" y="1518771"/>
            <a:ext cx="6689292" cy="2649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64"/>
              </a:lnSpc>
              <a:spcBef>
                <a:spcPct val="0"/>
              </a:spcBef>
            </a:pPr>
            <a:r>
              <a:rPr lang="en-US" sz="3899" spc="62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There is almost </a:t>
            </a:r>
            <a:r>
              <a:rPr lang="en-US" sz="3899" spc="62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no linear correlation</a:t>
            </a:r>
            <a:r>
              <a:rPr lang="en-US" sz="3899" spc="62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between direction and typicality score. (null-hypothesis)</a:t>
            </a:r>
          </a:p>
        </p:txBody>
      </p:sp>
      <p:sp>
        <p:nvSpPr>
          <p:cNvPr id="14" name="Freeform 14"/>
          <p:cNvSpPr/>
          <p:nvPr/>
        </p:nvSpPr>
        <p:spPr>
          <a:xfrm>
            <a:off x="-848571" y="8919661"/>
            <a:ext cx="3870946" cy="950141"/>
          </a:xfrm>
          <a:custGeom>
            <a:avLst/>
            <a:gdLst/>
            <a:ahLst/>
            <a:cxnLst/>
            <a:rect l="l" t="t" r="r" b="b"/>
            <a:pathLst>
              <a:path w="3870946" h="950141">
                <a:moveTo>
                  <a:pt x="0" y="0"/>
                </a:moveTo>
                <a:lnTo>
                  <a:pt x="3870946" y="0"/>
                </a:lnTo>
                <a:lnTo>
                  <a:pt x="3870946" y="950141"/>
                </a:lnTo>
                <a:lnTo>
                  <a:pt x="0" y="9501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4472906" y="-2364815"/>
            <a:ext cx="4980952" cy="3731186"/>
          </a:xfrm>
          <a:custGeom>
            <a:avLst/>
            <a:gdLst/>
            <a:ahLst/>
            <a:cxnLst/>
            <a:rect l="l" t="t" r="r" b="b"/>
            <a:pathLst>
              <a:path w="4980952" h="3731186">
                <a:moveTo>
                  <a:pt x="0" y="0"/>
                </a:moveTo>
                <a:lnTo>
                  <a:pt x="4980951" y="0"/>
                </a:lnTo>
                <a:lnTo>
                  <a:pt x="4980951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3431074" y="8919661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19" y="0"/>
                </a:lnTo>
                <a:lnTo>
                  <a:pt x="2587019" y="2386525"/>
                </a:lnTo>
                <a:lnTo>
                  <a:pt x="0" y="23865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-848571" y="-744412"/>
            <a:ext cx="2597326" cy="2796583"/>
          </a:xfrm>
          <a:custGeom>
            <a:avLst/>
            <a:gdLst/>
            <a:ahLst/>
            <a:cxnLst/>
            <a:rect l="l" t="t" r="r" b="b"/>
            <a:pathLst>
              <a:path w="2597326" h="2796583">
                <a:moveTo>
                  <a:pt x="0" y="0"/>
                </a:moveTo>
                <a:lnTo>
                  <a:pt x="2597327" y="0"/>
                </a:lnTo>
                <a:lnTo>
                  <a:pt x="2597327" y="2796583"/>
                </a:lnTo>
                <a:lnTo>
                  <a:pt x="0" y="279658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450092" y="5189435"/>
            <a:ext cx="7365157" cy="1562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From the visualizations, we found out that: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2329398" y="8614893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030709" y="9258300"/>
            <a:ext cx="3059829" cy="751049"/>
          </a:xfrm>
          <a:custGeom>
            <a:avLst/>
            <a:gdLst/>
            <a:ahLst/>
            <a:cxnLst/>
            <a:rect l="l" t="t" r="r" b="b"/>
            <a:pathLst>
              <a:path w="3059829" h="75104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4215205" y="854013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674156" y="-1072630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2686214" y="-2578193"/>
            <a:ext cx="4292424" cy="3870986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138935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7409323" y="-2700100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4747568">
            <a:off x="-2972342" y="3665317"/>
            <a:ext cx="4896097" cy="2735694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4831481" y="-1626507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7259300" y="2262342"/>
            <a:ext cx="3575541" cy="3575541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2570549" y="909373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5282649">
            <a:off x="16440369" y="6970869"/>
            <a:ext cx="3382987" cy="1154444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6978638" y="-642644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3688802" y="3636488"/>
            <a:ext cx="10910396" cy="2830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6"/>
              </a:lnSpc>
            </a:pPr>
            <a:r>
              <a:rPr lang="en-US" sz="42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Massachusetts Bay Transportation Authority. (n.d.). MBTA API v3. </a:t>
            </a:r>
            <a:r>
              <a:rPr lang="en-US" sz="4299" u="sng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  <a:hlinkClick r:id="rId29" tooltip="https://api-v3.mbta.com"/>
              </a:rPr>
              <a:t>https://api-v3.mbta.com/</a:t>
            </a:r>
            <a:r>
              <a:rPr lang="en-US" sz="42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Retrieved October 13, 2024.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52868" y="1974412"/>
            <a:ext cx="8275340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sz="900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Reference (APA)</a:t>
            </a:r>
          </a:p>
        </p:txBody>
      </p:sp>
      <p:sp>
        <p:nvSpPr>
          <p:cNvPr id="18" name="Freeform 18"/>
          <p:cNvSpPr/>
          <p:nvPr/>
        </p:nvSpPr>
        <p:spPr>
          <a:xfrm>
            <a:off x="3586500" y="6824217"/>
            <a:ext cx="11008077" cy="1885030"/>
          </a:xfrm>
          <a:custGeom>
            <a:avLst/>
            <a:gdLst/>
            <a:ahLst/>
            <a:cxnLst/>
            <a:rect l="l" t="t" r="r" b="b"/>
            <a:pathLst>
              <a:path w="11008077" h="1885030">
                <a:moveTo>
                  <a:pt x="0" y="0"/>
                </a:moveTo>
                <a:lnTo>
                  <a:pt x="11008077" y="0"/>
                </a:lnTo>
                <a:lnTo>
                  <a:pt x="11008077" y="1885030"/>
                </a:lnTo>
                <a:lnTo>
                  <a:pt x="0" y="188503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t="-3290" b="-3290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2329398" y="8614893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030709" y="9258300"/>
            <a:ext cx="3059829" cy="751049"/>
          </a:xfrm>
          <a:custGeom>
            <a:avLst/>
            <a:gdLst/>
            <a:ahLst/>
            <a:cxnLst/>
            <a:rect l="l" t="t" r="r" b="b"/>
            <a:pathLst>
              <a:path w="3059829" h="75104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4215205" y="854013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674156" y="-1072630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2686214" y="-2578193"/>
            <a:ext cx="4292424" cy="3870986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138935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7409323" y="-2700100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4747568">
            <a:off x="-2972342" y="3665317"/>
            <a:ext cx="4896097" cy="2735694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4831481" y="-1626507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7259300" y="2262342"/>
            <a:ext cx="3575541" cy="3575541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2570549" y="909373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5282649">
            <a:off x="16440369" y="6970869"/>
            <a:ext cx="3382987" cy="1154444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6978638" y="-642644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3688802" y="3019867"/>
            <a:ext cx="10910396" cy="3364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99"/>
              </a:lnSpc>
            </a:pPr>
            <a:r>
              <a:rPr lang="en-US" sz="14597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Thank you very much!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402</Words>
  <Application>Microsoft Office PowerPoint</Application>
  <PresentationFormat>Custom</PresentationFormat>
  <Paragraphs>47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Calibri</vt:lpstr>
      <vt:lpstr>DM Serif Display</vt:lpstr>
      <vt:lpstr>Alice</vt:lpstr>
      <vt:lpstr>Alice Bold</vt:lpstr>
      <vt:lpstr>Poppins</vt:lpstr>
      <vt:lpstr>DM Sans</vt:lpstr>
      <vt:lpstr>DM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Hypothesis</dc:title>
  <cp:lastModifiedBy>s21224038</cp:lastModifiedBy>
  <cp:revision>2</cp:revision>
  <dcterms:created xsi:type="dcterms:W3CDTF">2006-08-16T00:00:00Z</dcterms:created>
  <dcterms:modified xsi:type="dcterms:W3CDTF">2024-10-24T04:48:34Z</dcterms:modified>
  <dc:identifier>DAGTC166tB4</dc:identifier>
</cp:coreProperties>
</file>